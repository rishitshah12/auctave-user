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rotWithShape="1">
            <a:gsLst>
              <a:gs pos="0">
                <a:srgbClr val="C20C0B"/>
              </a:gs>
              <a:gs pos="100000">
                <a:srgbClr val="8B000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2700"/>
          </a:xfrm>
          <a:prstGeom prst="rect">
            <a:avLst/>
          </a:prstGeom>
          <a:solidFill>
            <a:srgbClr val="1E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868680"/>
            <a:ext cx="12115800" cy="12700"/>
          </a:xfrm>
          <a:prstGeom prst="rect">
            <a:avLst/>
          </a:prstGeom>
          <a:solidFill>
            <a:srgbClr val="1E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1737360"/>
            <a:ext cx="12115800" cy="12700"/>
          </a:xfrm>
          <a:prstGeom prst="rect">
            <a:avLst/>
          </a:prstGeom>
          <a:solidFill>
            <a:srgbClr val="1E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" y="2606039"/>
            <a:ext cx="12115800" cy="12700"/>
          </a:xfrm>
          <a:prstGeom prst="rect">
            <a:avLst/>
          </a:prstGeom>
          <a:solidFill>
            <a:srgbClr val="1E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3474720"/>
            <a:ext cx="12115800" cy="12700"/>
          </a:xfrm>
          <a:prstGeom prst="rect">
            <a:avLst/>
          </a:prstGeom>
          <a:solidFill>
            <a:srgbClr val="1E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" y="4343400"/>
            <a:ext cx="12115800" cy="12700"/>
          </a:xfrm>
          <a:prstGeom prst="rect">
            <a:avLst/>
          </a:prstGeom>
          <a:solidFill>
            <a:srgbClr val="1E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" y="5212079"/>
            <a:ext cx="12115800" cy="12700"/>
          </a:xfrm>
          <a:prstGeom prst="rect">
            <a:avLst/>
          </a:prstGeom>
          <a:solidFill>
            <a:srgbClr val="1E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" y="6080759"/>
            <a:ext cx="12115800" cy="12700"/>
          </a:xfrm>
          <a:prstGeom prst="rect">
            <a:avLst/>
          </a:prstGeom>
          <a:solidFill>
            <a:srgbClr val="1E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3474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151535"/>
                </a:solidFill>
                <a:latin typeface="Calibri"/>
              </a:rPr>
              <a:t>SOURCING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0"/>
            <a:ext cx="3502152" cy="2926080"/>
          </a:xfrm>
          <a:prstGeom prst="rect">
            <a:avLst/>
          </a:prstGeom>
          <a:gradFill rotWithShape="1">
            <a:gsLst>
              <a:gs pos="0">
                <a:srgbClr val="8B0000"/>
              </a:gs>
              <a:gs pos="100000">
                <a:srgbClr val="1A000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0" y="0"/>
            <a:ext cx="3502152" cy="2926080"/>
          </a:xfrm>
          <a:prstGeom prst="rect">
            <a:avLst/>
          </a:prstGeom>
          <a:solidFill>
            <a:srgbClr val="1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274320"/>
            <a:ext cx="2926080" cy="2286000"/>
          </a:xfrm>
          <a:prstGeom prst="roundRect">
            <a:avLst>
              <a:gd name="adj" fmla="val 18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411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A9AB4"/>
                </a:solidFill>
                <a:latin typeface="Calibri"/>
              </a:rPr>
              <a:t>📦  Active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6583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247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1155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  <a:latin typeface="Calibri"/>
              </a:rPr>
              <a:t>↑ 12% this season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444752"/>
            <a:ext cx="2468880" cy="73152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444752"/>
            <a:ext cx="1737360" cy="73152"/>
          </a:xfrm>
          <a:prstGeom prst="roundRect">
            <a:avLst>
              <a:gd name="adj" fmla="val 5000"/>
            </a:avLst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6002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A9AB4"/>
                </a:solidFill>
                <a:latin typeface="Calibri"/>
              </a:rPr>
              <a:t>🏭  Factory Match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94%  ●  Gold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A9AB4"/>
                </a:solidFill>
                <a:latin typeface="Calibri"/>
              </a:rPr>
              <a:t>The Operating System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874519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Global B2B Sourcing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834640"/>
            <a:ext cx="411480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01752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9AB4"/>
                </a:solidFill>
                <a:latin typeface="Calibri"/>
              </a:rPr>
              <a:t>Verified Marketplace  ·  Embedded Finance  ·  Compliance Infrastructure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5577840"/>
            <a:ext cx="12115800" cy="914400"/>
          </a:xfrm>
          <a:prstGeom prst="rect">
            <a:avLst/>
          </a:prstGeom>
          <a:gradFill rotWithShape="1">
            <a:gsLst>
              <a:gs pos="0">
                <a:srgbClr val="180000"/>
              </a:gs>
              <a:gs pos="100000">
                <a:srgbClr val="0D0D2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687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E8F0"/>
                </a:solidFill>
                <a:latin typeface="Calibri"/>
              </a:rPr>
              <a:t>Starting in Textiles  ·  Built for Every Industry  ·  $6T+ Addressable Market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291072"/>
            <a:ext cx="2011680" cy="292608"/>
          </a:xfrm>
          <a:prstGeom prst="roundRect">
            <a:avLst>
              <a:gd name="adj" fmla="val 32000"/>
            </a:avLst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3002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🚀  Seed / Series 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6291072"/>
            <a:ext cx="2011680" cy="292608"/>
          </a:xfrm>
          <a:prstGeom prst="roundRect">
            <a:avLst>
              <a:gd name="adj" fmla="val 32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63002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📍 Fashion &amp; Textiles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6291072"/>
            <a:ext cx="1188720" cy="292608"/>
          </a:xfrm>
          <a:prstGeom prst="roundRect">
            <a:avLst>
              <a:gd name="adj" fmla="val 32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630021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🌍  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gradFill rotWithShape="1">
            <a:gsLst>
              <a:gs pos="0">
                <a:srgbClr val="0D0D2E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B4"/>
                </a:solidFill>
                <a:latin typeface="Calibri"/>
              </a:rPr>
              <a:t>B2B Sourcing is Broken for Everyone in the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164592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3657600" cy="5394960"/>
          </a:xfrm>
          <a:prstGeom prst="roundRect">
            <a:avLst>
              <a:gd name="adj" fmla="val 18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657600" cy="502920"/>
          </a:xfrm>
          <a:prstGeom prst="rect">
            <a:avLst/>
          </a:prstGeom>
          <a:gradFill rotWithShape="1">
            <a:gsLst>
              <a:gs pos="0">
                <a:srgbClr val="C20C0B"/>
              </a:gs>
              <a:gs pos="100000">
                <a:srgbClr val="1A1A3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344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📦  For Importers</a:t>
            </a:r>
          </a:p>
        </p:txBody>
      </p:sp>
      <p:sp>
        <p:nvSpPr>
          <p:cNvPr id="9" name="Oval 8"/>
          <p:cNvSpPr/>
          <p:nvPr/>
        </p:nvSpPr>
        <p:spPr>
          <a:xfrm>
            <a:off x="704088" y="2002536"/>
            <a:ext cx="109728" cy="109728"/>
          </a:xfrm>
          <a:prstGeom prst="ellipse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Find factories through agents charging 5–15%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" y="2807208"/>
            <a:ext cx="109728" cy="109728"/>
          </a:xfrm>
          <a:prstGeom prst="ellipse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06624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Delays discovered after they've happened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" y="3611880"/>
            <a:ext cx="109728" cy="109728"/>
          </a:xfrm>
          <a:prstGeom prst="ellipse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11296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Managing 20 orders across WhatsApp, email, spreadsheets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" y="4416552"/>
            <a:ext cx="109728" cy="109728"/>
          </a:xfrm>
          <a:prstGeom prst="ellipse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1596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EU DPP compliance (2027) — no affordable 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5112" y="1143000"/>
            <a:ext cx="3657600" cy="5394960"/>
          </a:xfrm>
          <a:prstGeom prst="roundRect">
            <a:avLst>
              <a:gd name="adj" fmla="val 18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5112" y="1143000"/>
            <a:ext cx="3657600" cy="502920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1A1A3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12344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🏭  For Factories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200253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2" y="190195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Cash flow gap — produce now, get paid in 90 days</a:t>
            </a:r>
          </a:p>
        </p:txBody>
      </p:sp>
      <p:sp>
        <p:nvSpPr>
          <p:cNvPr id="22" name="Oval 21"/>
          <p:cNvSpPr/>
          <p:nvPr/>
        </p:nvSpPr>
        <p:spPr>
          <a:xfrm>
            <a:off x="4617720" y="28072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2706624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Banks reject SMB manufacturers entirely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361188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8032" y="3511296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No platform to showcase verified capability</a:t>
            </a:r>
          </a:p>
        </p:txBody>
      </p:sp>
      <p:sp>
        <p:nvSpPr>
          <p:cNvPr id="26" name="Oval 25"/>
          <p:cNvSpPr/>
          <p:nvPr/>
        </p:nvSpPr>
        <p:spPr>
          <a:xfrm>
            <a:off x="4617720" y="441655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431596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Dependent on middlemen for every buyer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38744" y="1143000"/>
            <a:ext cx="3657600" cy="5394960"/>
          </a:xfrm>
          <a:prstGeom prst="roundRect">
            <a:avLst>
              <a:gd name="adj" fmla="val 18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38744" y="1143000"/>
            <a:ext cx="3657600" cy="50292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1A1A3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12344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🌐  For the Industry</a:t>
            </a:r>
          </a:p>
        </p:txBody>
      </p:sp>
      <p:sp>
        <p:nvSpPr>
          <p:cNvPr id="31" name="Oval 30"/>
          <p:cNvSpPr/>
          <p:nvPr/>
        </p:nvSpPr>
        <p:spPr>
          <a:xfrm>
            <a:off x="8531352" y="20025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41664" y="190195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$400B+ in fashion sourcing runs on unverified trust</a:t>
            </a:r>
          </a:p>
        </p:txBody>
      </p:sp>
      <p:sp>
        <p:nvSpPr>
          <p:cNvPr id="33" name="Oval 32"/>
          <p:cNvSpPr/>
          <p:nvPr/>
        </p:nvSpPr>
        <p:spPr>
          <a:xfrm>
            <a:off x="8531352" y="2807208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41664" y="2706624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No platform owns the full workflow end-to-end</a:t>
            </a:r>
          </a:p>
        </p:txBody>
      </p:sp>
      <p:sp>
        <p:nvSpPr>
          <p:cNvPr id="35" name="Oval 34"/>
          <p:cNvSpPr/>
          <p:nvPr/>
        </p:nvSpPr>
        <p:spPr>
          <a:xfrm>
            <a:off x="8531352" y="3611880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41664" y="3511296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Banks underwrite blind — high rates, slow approvals</a:t>
            </a:r>
          </a:p>
        </p:txBody>
      </p:sp>
      <p:sp>
        <p:nvSpPr>
          <p:cNvPr id="37" name="Oval 36"/>
          <p:cNvSpPr/>
          <p:nvPr/>
        </p:nvSpPr>
        <p:spPr>
          <a:xfrm>
            <a:off x="8531352" y="441655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41664" y="431596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F0"/>
                </a:solidFill>
                <a:latin typeface="Calibri"/>
              </a:rPr>
              <a:t>A 2-week delay can destroy an entire season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gradFill rotWithShape="1">
            <a:gsLst>
              <a:gs pos="0">
                <a:srgbClr val="200000"/>
              </a:gs>
              <a:gs pos="100000">
                <a:srgbClr val="0D0D2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190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4444"/>
                </a:solidFill>
                <a:latin typeface="Calibri"/>
              </a:rPr>
              <a:t>$400B+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492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Fashion Sourcing GMV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6190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4444"/>
                </a:solidFill>
                <a:latin typeface="Calibri"/>
              </a:rPr>
              <a:t>90 Days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6492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Avg Factory Payment Gap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6190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4444"/>
                </a:solidFill>
                <a:latin typeface="Calibri"/>
              </a:rPr>
              <a:t>5–15%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6492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Agent Commission Lost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61904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4444"/>
                </a:solidFill>
                <a:latin typeface="Calibri"/>
              </a:rPr>
              <a:t>2027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6492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EU DPP Compliance Deadline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gradFill rotWithShape="1">
            <a:gsLst>
              <a:gs pos="0">
                <a:srgbClr val="0D0D2E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B4"/>
                </a:solidFill>
                <a:latin typeface="Calibri"/>
              </a:rPr>
              <a:t>Three Layers. One Platform. Every Problem Solved.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164592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7132320" cy="1261872"/>
          </a:xfrm>
          <a:prstGeom prst="rect">
            <a:avLst/>
          </a:prstGeom>
          <a:gradFill rotWithShape="1">
            <a:gsLst>
              <a:gs pos="0">
                <a:srgbClr val="C20C0B"/>
              </a:gs>
              <a:gs pos="100000">
                <a:srgbClr val="1A1A3E"/>
              </a:gs>
            </a:gsLst>
            <a:lin scaled="0" ang="213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LAYER 3 —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09928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Digital Product Passports  ·  ESG Scores  ·  Audit Tracking  ·  EU DPP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414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9AB4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97480"/>
            <a:ext cx="7132320" cy="1261872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1A1A3E"/>
              </a:gs>
            </a:gsLst>
            <a:lin scaled="0" ang="213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7063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LAYER 2 — EMBEDDED 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72968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Supply Chain Finance  ·  Escrow  ·  Buyer Credit  ·  Trade Insurance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9044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9AB4"/>
                </a:solidFill>
                <a:latin typeface="Calibr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160520"/>
            <a:ext cx="7132320" cy="1261872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1A1A3E"/>
              </a:gs>
            </a:gsLst>
            <a:lin scaled="0" ang="213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3367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LAYER 1 — MARKETPLACE + ERP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36008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Factory Discovery  ·  RFQ  ·  TNA Tracking  ·  Order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143000"/>
            <a:ext cx="4023360" cy="5394960"/>
          </a:xfrm>
          <a:prstGeom prst="roundRect">
            <a:avLst>
              <a:gd name="adj" fmla="val 18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2344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🔄  Replaces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1572768"/>
            <a:ext cx="329184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7190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✗  WhatsApp + Spreadsheets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066543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✓  TNA + Order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5877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✗  Sourcing Agents (5–15%)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93522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✓  Verified Marketplace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4564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✗  Letter of Credit (LC)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80390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✓  Platform Escrow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3251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✗  Bank Trade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672583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✓  Embedded 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1937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666"/>
                </a:solidFill>
                <a:latin typeface="Calibri"/>
              </a:rPr>
              <a:t>✗  Manual 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55412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✓  Auto-generated DPP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A9AB4"/>
                </a:solidFill>
                <a:latin typeface="Calibri"/>
              </a:rPr>
              <a:t>"We are not building a garment ERP.  We are building the infrastructure for global B2B sourcing."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gradFill rotWithShape="1">
            <a:gsLst>
              <a:gs pos="0">
                <a:srgbClr val="0D0D2E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B4"/>
                </a:solidFill>
                <a:latin typeface="Calibri"/>
              </a:rPr>
              <a:t>Sarah (London Importer) + Raza (Karachi Factory) — One $66K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164592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23160" y="2240280"/>
            <a:ext cx="274320" cy="38100"/>
          </a:xfrm>
          <a:prstGeom prst="rect">
            <a:avLst/>
          </a:prstGeom>
          <a:solidFill>
            <a:srgbClr val="9A9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011680" cy="4389120"/>
          </a:xfrm>
          <a:prstGeom prst="roundRect">
            <a:avLst>
              <a:gd name="adj" fmla="val 18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1188720"/>
            <a:ext cx="548640" cy="548640"/>
          </a:xfrm>
          <a:prstGeom prst="ellipse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17957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🔍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487168"/>
            <a:ext cx="17922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8F0"/>
                </a:solidFill>
                <a:latin typeface="Calibri"/>
              </a:rPr>
              <a:t>Sarah posts RFQ
AI matches Raza
(94% on-time, Gold)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4024" y="2240280"/>
            <a:ext cx="274320" cy="38100"/>
          </a:xfrm>
          <a:prstGeom prst="rect">
            <a:avLst/>
          </a:prstGeom>
          <a:solidFill>
            <a:srgbClr val="9A9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6624" y="1143000"/>
            <a:ext cx="2011680" cy="4389120"/>
          </a:xfrm>
          <a:prstGeom prst="roundRect">
            <a:avLst>
              <a:gd name="adj" fmla="val 18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118872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117957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9019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📋 TNA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2487168"/>
            <a:ext cx="17922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8F0"/>
                </a:solidFill>
                <a:latin typeface="Calibri"/>
              </a:rPr>
              <a:t>Live milestones
Early warning: delay
detected 6 wks ahead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04888" y="2240280"/>
            <a:ext cx="274320" cy="38100"/>
          </a:xfrm>
          <a:prstGeom prst="rect">
            <a:avLst/>
          </a:prstGeom>
          <a:solidFill>
            <a:srgbClr val="9A9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47488" y="1143000"/>
            <a:ext cx="2011680" cy="4389120"/>
          </a:xfrm>
          <a:prstGeom prst="roundRect">
            <a:avLst>
              <a:gd name="adj" fmla="val 18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79008" y="11887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9008" y="117957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19019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💰 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2487168"/>
            <a:ext cx="17922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8F0"/>
                </a:solidFill>
                <a:latin typeface="Calibri"/>
              </a:rPr>
              <a:t>Raza needs $46K
Approved in 48hrs
2.2% fee vs 5%+ bank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45752" y="2240280"/>
            <a:ext cx="274320" cy="38100"/>
          </a:xfrm>
          <a:prstGeom prst="rect">
            <a:avLst/>
          </a:prstGeom>
          <a:solidFill>
            <a:srgbClr val="9A9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1143000"/>
            <a:ext cx="2011680" cy="4389120"/>
          </a:xfrm>
          <a:prstGeom prst="roundRect">
            <a:avLst>
              <a:gd name="adj" fmla="val 18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19872" y="11887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872" y="117957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19019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🛡️ Escrow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487168"/>
            <a:ext cx="17922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8F0"/>
                </a:solidFill>
                <a:latin typeface="Calibri"/>
              </a:rPr>
              <a:t>Sarah deposits
Funds held secure
Released on delivery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29216" y="1143000"/>
            <a:ext cx="2011680" cy="4389120"/>
          </a:xfrm>
          <a:prstGeom prst="roundRect">
            <a:avLst>
              <a:gd name="adj" fmla="val 18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60736" y="118872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60736" y="117957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0656" y="19019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📄 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38944" y="2487168"/>
            <a:ext cx="17922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E8F0"/>
                </a:solidFill>
                <a:latin typeface="Calibri"/>
              </a:rPr>
              <a:t>Auto DPP generated
QR code on garment
EU 2027 ready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11430000" cy="914400"/>
          </a:xfrm>
          <a:prstGeom prst="rect">
            <a:avLst/>
          </a:prstGeom>
          <a:gradFill rotWithShape="1">
            <a:gsLst>
              <a:gs pos="0">
                <a:srgbClr val="1A0000"/>
              </a:gs>
              <a:gs pos="100000">
                <a:srgbClr val="1A1A3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760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💵  Revenue from ONE $66K order: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742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Commission (3%)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016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444"/>
                </a:solidFill>
                <a:latin typeface="Calibri"/>
              </a:rPr>
              <a:t>$1,980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742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Finance Fee (2.2%)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6016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444"/>
                </a:solidFill>
                <a:latin typeface="Calibri"/>
              </a:rPr>
              <a:t>$1,012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742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Compliance Module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6016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444"/>
                </a:solidFill>
                <a:latin typeface="Calibri"/>
              </a:rPr>
              <a:t>$300/mo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5742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SaaS (Sarah)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016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444"/>
                </a:solidFill>
                <a:latin typeface="Calibri"/>
              </a:rPr>
              <a:t>$500/mo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gradFill rotWithShape="1">
            <a:gsLst>
              <a:gs pos="0">
                <a:srgbClr val="0D0D2E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B4"/>
                </a:solidFill>
                <a:latin typeface="Calibri"/>
              </a:rPr>
              <a:t>Live Order Intelligence — Built for Importers &amp; Factories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164592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577840" cy="5440680"/>
          </a:xfrm>
          <a:prstGeom prst="roundRect">
            <a:avLst>
              <a:gd name="adj" fmla="val 15000"/>
            </a:avLst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📋  TNA Order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Linen Co-ord SS26  ·  Raza Garments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10512"/>
            <a:ext cx="5120640" cy="2540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984248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85416"/>
            <a:ext cx="38100" cy="374904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3852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Fabric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938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AB4"/>
                </a:solidFill>
                <a:latin typeface="Calibri"/>
              </a:rPr>
              <a:t>Mar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938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260604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807208"/>
            <a:ext cx="38100" cy="374904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560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Lab Dip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5603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AB4"/>
                </a:solidFill>
                <a:latin typeface="Calibri"/>
              </a:rPr>
              <a:t>Mar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56032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3227832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29000"/>
            <a:ext cx="38100" cy="374904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1821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PP Sample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18211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AB4"/>
                </a:solidFill>
                <a:latin typeface="Calibri"/>
              </a:rPr>
              <a:t>Mar 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18211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" y="3849624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050791"/>
            <a:ext cx="38100" cy="374904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8039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Bulk Fabric In-house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80390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AB4"/>
                </a:solidFill>
                <a:latin typeface="Calibri"/>
              </a:rPr>
              <a:t>Apr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380390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" y="4471416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672583"/>
            <a:ext cx="38100" cy="374904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4256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Bulk Production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4256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AB4"/>
                </a:solidFill>
                <a:latin typeface="Calibri"/>
              </a:rPr>
              <a:t>May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42569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🔵</a:t>
            </a:r>
          </a:p>
        </p:txBody>
      </p:sp>
      <p:sp>
        <p:nvSpPr>
          <p:cNvPr id="35" name="Oval 34"/>
          <p:cNvSpPr/>
          <p:nvPr/>
        </p:nvSpPr>
        <p:spPr>
          <a:xfrm>
            <a:off x="658368" y="5093208"/>
            <a:ext cx="201168" cy="201168"/>
          </a:xfrm>
          <a:prstGeom prst="ellipse">
            <a:avLst/>
          </a:prstGeom>
          <a:solidFill>
            <a:srgbClr val="9A9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294376"/>
            <a:ext cx="38100" cy="374904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04748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AQL Inspection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0474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AB4"/>
                </a:solidFill>
                <a:latin typeface="Calibri"/>
              </a:rPr>
              <a:t>May 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504748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⭕</a:t>
            </a:r>
          </a:p>
        </p:txBody>
      </p:sp>
      <p:sp>
        <p:nvSpPr>
          <p:cNvPr id="40" name="Oval 39"/>
          <p:cNvSpPr/>
          <p:nvPr/>
        </p:nvSpPr>
        <p:spPr>
          <a:xfrm>
            <a:off x="658368" y="5715000"/>
            <a:ext cx="201168" cy="201168"/>
          </a:xfrm>
          <a:prstGeom prst="ellipse">
            <a:avLst/>
          </a:prstGeom>
          <a:solidFill>
            <a:srgbClr val="9A9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6692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Ex-Factory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6692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AB4"/>
                </a:solidFill>
                <a:latin typeface="Calibri"/>
              </a:rPr>
              <a:t>Jun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566928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035040"/>
            <a:ext cx="5120640" cy="384048"/>
          </a:xfrm>
          <a:prstGeom prst="roundRect">
            <a:avLst>
              <a:gd name="adj" fmla="val 10000"/>
            </a:avLst>
          </a:prstGeom>
          <a:solidFill>
            <a:srgbClr val="3D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6062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Calibri"/>
              </a:rPr>
              <a:t>⚠️  Risk: Bulk fabric 5 days late — airfreight PP sample recommended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1097280"/>
            <a:ext cx="5577840" cy="5440680"/>
          </a:xfrm>
          <a:prstGeom prst="roundRect">
            <a:avLst>
              <a:gd name="adj" fmla="val 15000"/>
            </a:avLst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1207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📊  Order 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15087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Season Overview  ·  Summer 2026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1810512"/>
            <a:ext cx="5120640" cy="2540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92240" y="1938528"/>
            <a:ext cx="2331720" cy="1143000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202996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444"/>
                </a:solidFill>
                <a:latin typeface="Calibri"/>
              </a:rPr>
              <a:t>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24871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Active Orders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274320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↑ 3 this week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34272" y="1938528"/>
            <a:ext cx="2331720" cy="1143000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34272" y="202996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444"/>
                </a:solidFill>
                <a:latin typeface="Calibri"/>
              </a:rPr>
              <a:t>$1.2M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34272" y="24871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GMV In Progress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34272" y="274320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Season to date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3218688"/>
            <a:ext cx="2331720" cy="1143000"/>
          </a:xfrm>
          <a:prstGeom prst="roundRect">
            <a:avLst>
              <a:gd name="adj" fmla="val 15000"/>
            </a:avLst>
          </a:prstGeom>
          <a:solidFill>
            <a:srgbClr val="0D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33101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444"/>
                </a:solidFill>
                <a:latin typeface="Calibri"/>
              </a:rPr>
              <a:t>94%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376732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On-Time Rate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402336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↑ 2% vs last season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34272" y="3218688"/>
            <a:ext cx="2331720" cy="1143000"/>
          </a:xfrm>
          <a:prstGeom prst="roundRect">
            <a:avLst>
              <a:gd name="adj" fmla="val 15000"/>
            </a:avLst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34272" y="33101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444"/>
                </a:solidFill>
                <a:latin typeface="Calibr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34272" y="376732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At-Risk Orders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34272" y="402336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Need attention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92240" y="4480560"/>
            <a:ext cx="5120640" cy="1417320"/>
          </a:xfrm>
          <a:prstGeom prst="roundRect">
            <a:avLst>
              <a:gd name="adj" fmla="val 12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455371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🏭  Raza Garments  ·  Karachi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0" y="4892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Trust Score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83879" y="4937760"/>
            <a:ext cx="3108960" cy="146304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83879" y="4937760"/>
            <a:ext cx="2944368" cy="146304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356848" y="486460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94%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75120" y="5257800"/>
            <a:ext cx="1371600" cy="256032"/>
          </a:xfrm>
          <a:prstGeom prst="roundRect">
            <a:avLst>
              <a:gd name="adj" fmla="val 32000"/>
            </a:avLst>
          </a:prstGeom>
          <a:solidFill>
            <a:srgbClr val="18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0" y="5266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🥇 Gold Tier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83879" y="5257800"/>
            <a:ext cx="1645920" cy="256032"/>
          </a:xfrm>
          <a:prstGeom prst="roundRect">
            <a:avLst>
              <a:gd name="adj" fmla="val 32000"/>
            </a:avLst>
          </a:prstGeom>
          <a:solidFill>
            <a:srgbClr val="102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83879" y="52669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💰 Finance Ready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48672" y="5257800"/>
            <a:ext cx="1554480" cy="256032"/>
          </a:xfrm>
          <a:prstGeom prst="roundRect">
            <a:avLst>
              <a:gd name="adj" fmla="val 32000"/>
            </a:avLst>
          </a:prstGeom>
          <a:solidFill>
            <a:srgbClr val="1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48672" y="52669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✅ WRAP Certified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75120" y="56235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Finance Limit: $150,000  ·  Rate: 1.8%  ·  48hr approval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gradFill rotWithShape="1">
            <a:gsLst>
              <a:gs pos="0">
                <a:srgbClr val="0D0D2E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B4"/>
                </a:solidFill>
                <a:latin typeface="Calibri"/>
              </a:rPr>
              <a:t>Four Revenue Streams — Three Triggered by Every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164592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743200" cy="3657600"/>
          </a:xfrm>
          <a:prstGeom prst="roundRect">
            <a:avLst>
              <a:gd name="adj" fmla="val 18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743200" cy="457200"/>
          </a:xfrm>
          <a:prstGeom prst="rect">
            <a:avLst/>
          </a:prstGeom>
          <a:gradFill rotWithShape="1">
            <a:gsLst>
              <a:gs pos="0">
                <a:srgbClr val="C20C0B"/>
              </a:gs>
              <a:gs pos="100000">
                <a:srgbClr val="1A1A3E"/>
              </a:gs>
            </a:gsLst>
            <a:lin scaled="0" ang="213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070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207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Commission on Contracts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7190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20C0B"/>
                </a:solidFill>
                <a:latin typeface="Calibri"/>
              </a:rPr>
              <a:t>2–4% of contract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148840"/>
            <a:ext cx="2423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Earned when order confirmed
Scales automatically with GMV
$66K order @ 3% = $1,980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143000"/>
            <a:ext cx="2743200" cy="3657600"/>
          </a:xfrm>
          <a:prstGeom prst="roundRect">
            <a:avLst>
              <a:gd name="adj" fmla="val 18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4408" y="1143000"/>
            <a:ext cx="2743200" cy="457200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1A1A3E"/>
              </a:gs>
            </a:gsLst>
            <a:lin scaled="0" ang="213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12070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1207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Supply Chain Finance Fee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7190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1.5–3.5% per transaction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48840"/>
            <a:ext cx="2423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Tiered by factory trust level
Phase 1: split with NBFC
Phase 2: full margin on own book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143000"/>
            <a:ext cx="2743200" cy="3657600"/>
          </a:xfrm>
          <a:prstGeom prst="roundRect">
            <a:avLst>
              <a:gd name="adj" fmla="val 18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1143000"/>
            <a:ext cx="2743200" cy="45720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1A1A3E"/>
              </a:gs>
            </a:gsLst>
            <a:lin scaled="0" ang="213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12070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207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SaaS Subscriptions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17190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$300–800/mo importers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2148840"/>
            <a:ext cx="2423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$100–300/mo factories
High margin, recurring
Sticky — data lock-in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53144" y="1143000"/>
            <a:ext cx="2743200" cy="3657600"/>
          </a:xfrm>
          <a:prstGeom prst="roundRect">
            <a:avLst>
              <a:gd name="adj" fmla="val 18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53144" y="1143000"/>
            <a:ext cx="2743200" cy="457200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1A1A3E"/>
              </a:gs>
            </a:gsLst>
            <a:lin scaled="0" ang="213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2872" y="12070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1207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Compliance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17190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$200–500/mo per brand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2148840"/>
            <a:ext cx="2423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EU DPP mandatory 2027
Auto-generated passports
Regulatory tailwind drives adoption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983480"/>
            <a:ext cx="11521440" cy="1691640"/>
          </a:xfrm>
          <a:prstGeom prst="roundRect">
            <a:avLst>
              <a:gd name="adj" fmla="val 12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0474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📈  Revenue at Scale  (200 importers · 10 orders/yr · avg $50K)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44068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Annual GMV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69671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444"/>
                </a:solidFill>
                <a:latin typeface="Calibri"/>
              </a:rPr>
              <a:t>$100M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544068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Commission (3%)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95728" y="569671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$3.0M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88536" y="544068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SaaS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88536" y="569671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$1.2M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1343" y="544068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Finance (Phase 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343" y="569671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$0.8M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4152" y="544068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Compliance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2" y="569671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$0.5M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544068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EBITDA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569671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~$1.7M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gradFill rotWithShape="1">
            <a:gsLst>
              <a:gs pos="0">
                <a:srgbClr val="0D0D2E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Supply Chain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B4"/>
                </a:solidFill>
                <a:latin typeface="Calibri"/>
              </a:rPr>
              <a:t>Smarter Underwriting — Because We See What Banks Cannot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164592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394960" cy="4663440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Phase 1  —  Asset-Light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4"/>
                </a:solidFill>
                <a:latin typeface="Calibri"/>
              </a:rPr>
              <a:t>Years 1–2</a:t>
            </a:r>
          </a:p>
        </p:txBody>
      </p:sp>
      <p:sp>
        <p:nvSpPr>
          <p:cNvPr id="9" name="Oval 8"/>
          <p:cNvSpPr/>
          <p:nvPr/>
        </p:nvSpPr>
        <p:spPr>
          <a:xfrm>
            <a:off x="608076" y="2007108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02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alibri"/>
              </a:rPr>
              <a:t>Partner with NBFC — they fund, we originate</a:t>
            </a:r>
          </a:p>
        </p:txBody>
      </p:sp>
      <p:sp>
        <p:nvSpPr>
          <p:cNvPr id="11" name="Oval 10"/>
          <p:cNvSpPr/>
          <p:nvPr/>
        </p:nvSpPr>
        <p:spPr>
          <a:xfrm>
            <a:off x="608076" y="2510028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231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alibri"/>
              </a:rPr>
              <a:t>Platform earns 0.8–1.2% origination fee</a:t>
            </a:r>
          </a:p>
        </p:txBody>
      </p:sp>
      <p:sp>
        <p:nvSpPr>
          <p:cNvPr id="13" name="Oval 12"/>
          <p:cNvSpPr/>
          <p:nvPr/>
        </p:nvSpPr>
        <p:spPr>
          <a:xfrm>
            <a:off x="608076" y="3012948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260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alibri"/>
              </a:rPr>
              <a:t>No capital deployment required</a:t>
            </a:r>
          </a:p>
        </p:txBody>
      </p:sp>
      <p:sp>
        <p:nvSpPr>
          <p:cNvPr id="15" name="Oval 14"/>
          <p:cNvSpPr/>
          <p:nvPr/>
        </p:nvSpPr>
        <p:spPr>
          <a:xfrm>
            <a:off x="608076" y="3515868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4290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alibri"/>
              </a:rPr>
              <a:t>NBFC takes credit risk, we take data risk</a:t>
            </a:r>
          </a:p>
        </p:txBody>
      </p:sp>
      <p:sp>
        <p:nvSpPr>
          <p:cNvPr id="17" name="Oval 16"/>
          <p:cNvSpPr/>
          <p:nvPr/>
        </p:nvSpPr>
        <p:spPr>
          <a:xfrm>
            <a:off x="608076" y="4018788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931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alibri"/>
              </a:rPr>
              <a:t>Cashflow positive from Day 1</a:t>
            </a:r>
          </a:p>
        </p:txBody>
      </p:sp>
      <p:sp>
        <p:nvSpPr>
          <p:cNvPr id="19" name="Oval 18"/>
          <p:cNvSpPr/>
          <p:nvPr/>
        </p:nvSpPr>
        <p:spPr>
          <a:xfrm>
            <a:off x="608076" y="4521708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4348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alibri"/>
              </a:rPr>
              <a:t>Regulatory risk sits with NBFC, not 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143000"/>
            <a:ext cx="5788152" cy="4663440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2344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Phase 2  —  Balance 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5727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B4"/>
                </a:solidFill>
                <a:latin typeface="Calibri"/>
              </a:rPr>
              <a:t>Years 3+</a:t>
            </a:r>
          </a:p>
        </p:txBody>
      </p:sp>
      <p:sp>
        <p:nvSpPr>
          <p:cNvPr id="24" name="Oval 23"/>
          <p:cNvSpPr/>
          <p:nvPr/>
        </p:nvSpPr>
        <p:spPr>
          <a:xfrm>
            <a:off x="6185916" y="2007108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19202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alibri"/>
              </a:rPr>
              <a:t>Raise $5–10M debt credit facility (not equity)</a:t>
            </a:r>
          </a:p>
        </p:txBody>
      </p:sp>
      <p:sp>
        <p:nvSpPr>
          <p:cNvPr id="26" name="Oval 25"/>
          <p:cNvSpPr/>
          <p:nvPr/>
        </p:nvSpPr>
        <p:spPr>
          <a:xfrm>
            <a:off x="6185916" y="2510028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242316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alibri"/>
              </a:rPr>
              <a:t>Lend directly — earn full 2–2.5% margin</a:t>
            </a:r>
          </a:p>
        </p:txBody>
      </p:sp>
      <p:sp>
        <p:nvSpPr>
          <p:cNvPr id="28" name="Oval 27"/>
          <p:cNvSpPr/>
          <p:nvPr/>
        </p:nvSpPr>
        <p:spPr>
          <a:xfrm>
            <a:off x="6185916" y="3012948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292608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alibri"/>
              </a:rPr>
              <a:t>Net ~12–15% annual return on deployed capital</a:t>
            </a:r>
          </a:p>
        </p:txBody>
      </p:sp>
      <p:sp>
        <p:nvSpPr>
          <p:cNvPr id="30" name="Oval 29"/>
          <p:cNvSpPr/>
          <p:nvPr/>
        </p:nvSpPr>
        <p:spPr>
          <a:xfrm>
            <a:off x="6185916" y="3515868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342900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alibri"/>
              </a:rPr>
              <a:t>Equity funds the platform. Debt funds the loans.</a:t>
            </a:r>
          </a:p>
        </p:txBody>
      </p:sp>
      <p:sp>
        <p:nvSpPr>
          <p:cNvPr id="32" name="Oval 31"/>
          <p:cNvSpPr/>
          <p:nvPr/>
        </p:nvSpPr>
        <p:spPr>
          <a:xfrm>
            <a:off x="6185916" y="4018788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393192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alibri"/>
              </a:rPr>
              <a:t>Finance revenue 3x vs Phase 1 at same GMV</a:t>
            </a:r>
          </a:p>
        </p:txBody>
      </p:sp>
      <p:sp>
        <p:nvSpPr>
          <p:cNvPr id="34" name="Oval 33"/>
          <p:cNvSpPr/>
          <p:nvPr/>
        </p:nvSpPr>
        <p:spPr>
          <a:xfrm>
            <a:off x="6185916" y="4521708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44348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F0"/>
                </a:solidFill>
                <a:latin typeface="Calibri"/>
              </a:rPr>
              <a:t>Comparable: Drip Capital, Karbon Card, Credable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943600"/>
            <a:ext cx="11548872" cy="777240"/>
          </a:xfrm>
          <a:prstGeom prst="rect">
            <a:avLst/>
          </a:prstGeom>
          <a:gradFill rotWithShape="1">
            <a:gsLst>
              <a:gs pos="0">
                <a:srgbClr val="180000"/>
              </a:gs>
              <a:gs pos="100000">
                <a:srgbClr val="1A1A3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893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Platform vs Bank: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59618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A9AB4"/>
                </a:solidFill>
                <a:latin typeface="Calibri"/>
              </a:rPr>
              <a:t>Approval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6172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48 hrs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63916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6666"/>
                </a:solidFill>
                <a:latin typeface="Calibri"/>
              </a:rPr>
              <a:t>3–6 weeks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59618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A9AB4"/>
                </a:solidFill>
                <a:latin typeface="Calibri"/>
              </a:rPr>
              <a:t>Rate (90-day)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6172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2.2%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63916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6666"/>
                </a:solidFill>
                <a:latin typeface="Calibri"/>
              </a:rPr>
              <a:t>3.5–6%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59618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A9AB4"/>
                </a:solidFill>
                <a:latin typeface="Calibri"/>
              </a:rPr>
              <a:t>Collateral Needed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6172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None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63916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6666"/>
                </a:solidFill>
                <a:latin typeface="Calibri"/>
              </a:rPr>
              <a:t>Property + Assets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59618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A9AB4"/>
                </a:solidFill>
                <a:latin typeface="Calibri"/>
              </a:rPr>
              <a:t>SMB Eligibility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6172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Calibri"/>
              </a:rPr>
              <a:t>Guaranteed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63916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6666"/>
                </a:solidFill>
                <a:latin typeface="Calibri"/>
              </a:rPr>
              <a:t>Often Rejected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gradFill rotWithShape="1">
            <a:gsLst>
              <a:gs pos="0">
                <a:srgbClr val="0D0D2E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Trust &amp;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B4"/>
                </a:solidFill>
                <a:latin typeface="Calibri"/>
              </a:rPr>
              <a:t>6-Layer Verification — The Foundation of the Finance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164592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5669280" cy="1664208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4632" y="1335024"/>
            <a:ext cx="475488" cy="475488"/>
          </a:xfrm>
          <a:prstGeom prst="ellipse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1673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0759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Proof of 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GPS-tagged, timestamped photo uploads required for every milestone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017520"/>
            <a:ext cx="5669280" cy="1664208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4632" y="3182112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3163824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54679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Buyer Confirmation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47872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Key milestones need buyer sign-off — factory cannot fake buyer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864608"/>
            <a:ext cx="5669280" cy="1664208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4632" y="5029200"/>
            <a:ext cx="475488" cy="47548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5010912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017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Third-Party Inspection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94960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QIMA/SGS report feeds directly to platform — factory never touches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1170432"/>
            <a:ext cx="5669280" cy="1664208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3951" y="1335024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131673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599" y="130759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Anomaly Detection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599" y="1700784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Flags: milestones batched overnight, GPS mismatch, statistically perfect timing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3017520"/>
            <a:ext cx="5669280" cy="1664208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73951" y="3182112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1" y="3163824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599" y="3154679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Tiered Trust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3547872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Bronze → Silver → Gold. Limits, rates, and friction all tied to track record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4864608"/>
            <a:ext cx="5669280" cy="1664208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73951" y="5029200"/>
            <a:ext cx="475488" cy="475488"/>
          </a:xfrm>
          <a:prstGeom prst="ellipse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1" y="5010912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599" y="50017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Skin in the Game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599" y="5394960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1–2% performance bond in escrow. Manipulation = bond forfeited + suspended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6510528"/>
            <a:ext cx="11548872" cy="228600"/>
          </a:xfrm>
          <a:prstGeom prst="rect">
            <a:avLst/>
          </a:prstGeom>
          <a:gradFill rotWithShape="1">
            <a:gsLst>
              <a:gs pos="0">
                <a:srgbClr val="12122A"/>
              </a:gs>
              <a:gs pos="100000">
                <a:srgbClr val="0D0D2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AB4"/>
                </a:solidFill>
                <a:latin typeface="Calibri"/>
              </a:rPr>
              <a:t>Trust Tiers:  Bronze → $12K limit @ 3.5%     Silver → $50K @ 2.5%     Gold → $150K+ @ 1.8%    (Every order improves your tier)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gradFill rotWithShape="1">
            <a:gsLst>
              <a:gs pos="0">
                <a:srgbClr val="0D0D2E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Platform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B4"/>
                </a:solidFill>
                <a:latin typeface="Calibri"/>
              </a:rPr>
              <a:t>Why No One Leaves — and Why Escrow Is Free Money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164592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60720" cy="5440680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🔒  7 Retention Locks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55648"/>
            <a:ext cx="320040" cy="274320"/>
          </a:xfrm>
          <a:prstGeom prst="roundRect">
            <a:avLst>
              <a:gd name="adj" fmla="val 32000"/>
            </a:avLst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647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190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Finance only on-platform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11679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Lose $46K access if you leave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41448"/>
            <a:ext cx="320040" cy="274320"/>
          </a:xfrm>
          <a:prstGeom prst="roundRect">
            <a:avLst>
              <a:gd name="adj" fmla="val 32000"/>
            </a:avLst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50591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4048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Escrow replaces expensive 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697479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$400–1,800 saved vs Letter of Credit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27248"/>
            <a:ext cx="320040" cy="274320"/>
          </a:xfrm>
          <a:prstGeom prst="roundRect">
            <a:avLst>
              <a:gd name="adj" fmla="val 32000"/>
            </a:avLst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36391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0906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Contact details gated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383279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Only shared after contract signed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13048"/>
            <a:ext cx="320040" cy="274320"/>
          </a:xfrm>
          <a:prstGeom prst="roundRect">
            <a:avLst>
              <a:gd name="adj" fmla="val 32000"/>
            </a:avLst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22191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7764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DPP compliance tied to 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0690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EU 2027 mandatory — no workaround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98848"/>
            <a:ext cx="320040" cy="274320"/>
          </a:xfrm>
          <a:prstGeom prst="roundRect">
            <a:avLst>
              <a:gd name="adj" fmla="val 32000"/>
            </a:avLst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5079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4622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Non-circumvention clause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754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3x commission fee if you go direct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184648"/>
            <a:ext cx="320040" cy="274320"/>
          </a:xfrm>
          <a:prstGeom prst="roundRect">
            <a:avLst>
              <a:gd name="adj" fmla="val 32000"/>
            </a:avLst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1937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51480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Trust score is platform-owned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40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18 months to build, lost in one day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870448"/>
            <a:ext cx="320040" cy="274320"/>
          </a:xfrm>
          <a:prstGeom prst="roundRect">
            <a:avLst>
              <a:gd name="adj" fmla="val 32000"/>
            </a:avLst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8795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8338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Direct Pair Pricing (1% vs 3%)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61264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Loyalty rewarded, leaving punished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1143000"/>
            <a:ext cx="5513832" cy="5440680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1234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💵  Escrow vs Letter of Credit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1627632"/>
            <a:ext cx="493776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17190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666"/>
                </a:solidFill>
                <a:latin typeface="Calibri"/>
              </a:rPr>
              <a:t>Traditional LC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0299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Issuance fee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202996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F0"/>
                </a:solidFill>
                <a:latin typeface="Calibri"/>
              </a:rPr>
              <a:t>0.5–2%  =  $330–$1,320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241401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Amendment fees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24140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F0"/>
                </a:solidFill>
                <a:latin typeface="Calibri"/>
              </a:rPr>
              <a:t>$50–150 each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27980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Confirmation fee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279806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F0"/>
                </a:solidFill>
                <a:latin typeface="Calibri"/>
              </a:rPr>
              <a:t>0.5–1% if required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1821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Setup 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31821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F0"/>
                </a:solidFill>
                <a:latin typeface="Calibri"/>
              </a:rPr>
              <a:t>2–4 weeks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35661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Reduces bank credit?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35661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F0"/>
                </a:solidFill>
                <a:latin typeface="Calibri"/>
              </a:rPr>
              <a:t>YES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4069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Platform Escrow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44074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Settlement fee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44074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F0"/>
                </a:solidFill>
                <a:latin typeface="Calibri"/>
              </a:rPr>
              <a:t>$25–50 flat  (0.3% = $198)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47914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Setup time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47914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F0"/>
                </a:solidFill>
                <a:latin typeface="Calibri"/>
              </a:rPr>
              <a:t>Instant, fully digital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51755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Reduces bank credit?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51755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F0"/>
                </a:solidFill>
                <a:latin typeface="Calibri"/>
              </a:rPr>
              <a:t>NO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5413248"/>
            <a:ext cx="5321808" cy="987552"/>
          </a:xfrm>
          <a:prstGeom prst="roundRect">
            <a:avLst>
              <a:gd name="adj" fmla="val 12000"/>
            </a:avLst>
          </a:prstGeom>
          <a:solidFill>
            <a:srgbClr val="0D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54772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⭐  Float Income at Scale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57607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F0"/>
                </a:solidFill>
                <a:latin typeface="Calibri"/>
              </a:rPr>
              <a:t>$10M in escrow @ 4–5% annual  =  $400–500K/yr passive income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gradFill rotWithShape="1">
            <a:gsLst>
              <a:gs pos="0">
                <a:srgbClr val="0D0D2E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B4"/>
                </a:solidFill>
                <a:latin typeface="Calibri"/>
              </a:rPr>
              <a:t>8 Worst-Case Scenarios — All Structurally Covered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164592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3154680" cy="36576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88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1170432"/>
            <a:ext cx="1325880" cy="36576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1887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Probability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170432"/>
            <a:ext cx="1325880" cy="36576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59" y="11887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1170432"/>
            <a:ext cx="5074920" cy="36576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18872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Primary Protection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45920"/>
            <a:ext cx="11521440" cy="548640"/>
          </a:xfrm>
          <a:prstGeom prst="rect">
            <a:avLst/>
          </a:prstGeom>
          <a:solidFill>
            <a:srgbClr val="18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7190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Buyer + Factory Collusion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39312" y="1737360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17465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1737360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F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17465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737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  <a:latin typeface="Calibri"/>
              </a:rPr>
              <a:t>✓  3rd-party inspection + KYC + criminal provisions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240280"/>
            <a:ext cx="11521440" cy="5486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31343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Mass Buyer Default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9312" y="2331720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2340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02352" y="2331720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2340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331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  <a:latin typeface="Calibri"/>
              </a:rPr>
              <a:t>✓  Escrow pre-collects + trade credit insurance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34640"/>
            <a:ext cx="11521440" cy="548640"/>
          </a:xfrm>
          <a:prstGeom prst="rect">
            <a:avLst/>
          </a:prstGeom>
          <a:solidFill>
            <a:srgbClr val="18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90779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Geopolitical Disruption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39312" y="2926080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9312" y="29352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02352" y="2926080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02352" y="29352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926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  <a:latin typeface="Calibri"/>
              </a:rPr>
              <a:t>✓  Political risk insurance + 4-country diversity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429000"/>
            <a:ext cx="11521440" cy="5486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5021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Platform Data Breach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39312" y="3520440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39312" y="35295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02352" y="3520440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FF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02352" y="35295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520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  <a:latin typeface="Calibri"/>
              </a:rPr>
              <a:t>✓  ISO 27001 + encryption + cyber insurance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023360"/>
            <a:ext cx="11521440" cy="548640"/>
          </a:xfrm>
          <a:prstGeom prst="rect">
            <a:avLst/>
          </a:prstGeom>
          <a:solidFill>
            <a:srgbClr val="18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0965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Regulatory Change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39312" y="4114800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39312" y="4123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02352" y="4114800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02352" y="4123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114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  <a:latin typeface="Calibri"/>
              </a:rPr>
              <a:t>✓  Asset-light Phase 1 — NBFC holds the license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617720"/>
            <a:ext cx="11521440" cy="5486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6908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Quality Dispute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39312" y="4709159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FF6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39312" y="471830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02352" y="4709159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02352" y="471830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47091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  <a:latin typeface="Calibri"/>
              </a:rPr>
              <a:t>✓  AQL inspection gates final tranche release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212080"/>
            <a:ext cx="11521440" cy="548640"/>
          </a:xfrm>
          <a:prstGeom prst="rect">
            <a:avLst/>
          </a:prstGeom>
          <a:solidFill>
            <a:srgbClr val="18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28523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Shipping Crisis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39312" y="5303520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39312" y="53126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02352" y="5303520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02352" y="53126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5303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  <a:latin typeface="Calibri"/>
              </a:rPr>
              <a:t>✓  Cargo insurance + force majeure provisions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5806440"/>
            <a:ext cx="11521440" cy="5486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87959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Customer Concentration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39312" y="5897879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39312" y="59070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02352" y="5897879"/>
            <a:ext cx="1280160" cy="274320"/>
          </a:xfrm>
          <a:prstGeom prst="roundRect">
            <a:avLst>
              <a:gd name="adj" fmla="val 3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02352" y="59070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589787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8F0"/>
                </a:solidFill>
                <a:latin typeface="Calibri"/>
              </a:rPr>
              <a:t>✓  8% GMV cap per buyer + stickiness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gradFill rotWithShape="1">
            <a:gsLst>
              <a:gs pos="0">
                <a:srgbClr val="0D0D2E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B4"/>
                </a:solidFill>
                <a:latin typeface="Calibri"/>
              </a:rPr>
              <a:t>Everyone Owns One Piece. We Own All Four.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164592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51960" y="126187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26187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ERP / TNA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26187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26187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19072"/>
            <a:ext cx="11521440" cy="621792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 Alibaba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79222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79222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79222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79222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377439"/>
            <a:ext cx="11521440" cy="621792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68879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 Faire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450591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50591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450591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2450591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035808"/>
            <a:ext cx="11521440" cy="621792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1272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 Anvyl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1089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1089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1089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1089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694176"/>
            <a:ext cx="11521440" cy="621792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85615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 Fast React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76732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6732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76732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76732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352544"/>
            <a:ext cx="11521440" cy="621792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44398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 Drip Capital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442569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42569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42569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442569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010912"/>
            <a:ext cx="11521440" cy="621792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102351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 Inspectorio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508406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08406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508406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66"/>
                </a:solidFill>
                <a:latin typeface="Calibri"/>
              </a:rP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508406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669280"/>
            <a:ext cx="11521440" cy="621792"/>
          </a:xfrm>
          <a:prstGeom prst="rect">
            <a:avLst/>
          </a:prstGeom>
          <a:solidFill>
            <a:srgbClr val="2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5669280"/>
            <a:ext cx="1152144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7607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Calibri"/>
              </a:rPr>
              <a:t>★  This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574243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574243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74243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574243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6309360"/>
            <a:ext cx="11521440" cy="475488"/>
          </a:xfrm>
          <a:prstGeom prst="rect">
            <a:avLst/>
          </a:prstGeom>
          <a:gradFill rotWithShape="1">
            <a:gsLst>
              <a:gs pos="0">
                <a:srgbClr val="1A0000"/>
              </a:gs>
              <a:gs pos="100000">
                <a:srgbClr val="1A1A3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336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A9AB4"/>
                </a:solidFill>
                <a:latin typeface="Calibri"/>
              </a:rPr>
              <a:t>"Individual features can be copied. Years of factory performance data, trust scores, and buyer relationships cannot.  The moat builds itself."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gradFill rotWithShape="1">
            <a:gsLst>
              <a:gs pos="0">
                <a:srgbClr val="0D0D2E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Market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B4"/>
                </a:solidFill>
                <a:latin typeface="Calibri"/>
              </a:rPr>
              <a:t>Textiles Is the Wedge. $6.5T+ Is the Prize.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164592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047488" cy="658368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09489" cy="658368"/>
          </a:xfrm>
          <a:prstGeom prst="rect">
            <a:avLst/>
          </a:prstGeom>
          <a:gradFill rotWithShape="1">
            <a:gsLst>
              <a:gs pos="0">
                <a:srgbClr val="C20C0B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Textiles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929" y="129844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$0.4T+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353312"/>
            <a:ext cx="1188720" cy="274320"/>
          </a:xfrm>
          <a:prstGeom prst="roundRect">
            <a:avLst>
              <a:gd name="adj" fmla="val 32000"/>
            </a:avLst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3624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Year 1–2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48840"/>
            <a:ext cx="5047488" cy="658368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148840"/>
            <a:ext cx="773723" cy="658368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219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+ Furniture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163" y="22585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$1.0T+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313432"/>
            <a:ext cx="1188720" cy="274320"/>
          </a:xfrm>
          <a:prstGeom prst="roundRect">
            <a:avLst>
              <a:gd name="adj" fmla="val 3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3225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Year 2–3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08960"/>
            <a:ext cx="5047488" cy="658368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108960"/>
            <a:ext cx="3094892" cy="658368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821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+ Electronics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7692" y="321868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$4.0T+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3273552"/>
            <a:ext cx="1188720" cy="274320"/>
          </a:xfrm>
          <a:prstGeom prst="roundRect">
            <a:avLst>
              <a:gd name="adj" fmla="val 3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32826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Year 3–4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69080"/>
            <a:ext cx="5047488" cy="658368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69080"/>
            <a:ext cx="4642338" cy="658368"/>
          </a:xfrm>
          <a:prstGeom prst="rect">
            <a:avLst/>
          </a:prstGeom>
          <a:gradFill rotWithShape="1">
            <a:gsLst>
              <a:gs pos="0">
                <a:srgbClr val="10B981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1422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+ Agri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85138" y="417880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$6.0T+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4233672"/>
            <a:ext cx="1188720" cy="274320"/>
          </a:xfrm>
          <a:prstGeom prst="roundRect">
            <a:avLst>
              <a:gd name="adj" fmla="val 32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4242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Year 4+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029200"/>
            <a:ext cx="5047488" cy="658368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029200"/>
            <a:ext cx="5029200" cy="658368"/>
          </a:xfrm>
          <a:prstGeom prst="rect">
            <a:avLst/>
          </a:prstGeom>
          <a:gradFill rotWithShape="1">
            <a:gsLst>
              <a:gs pos="0">
                <a:srgbClr val="C084FF"/>
              </a:gs>
              <a:gs pos="100000">
                <a:srgbClr val="1212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102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+ Pharma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13892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$6.5T+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5193792"/>
            <a:ext cx="1188720" cy="274320"/>
          </a:xfrm>
          <a:prstGeom prst="roundRect">
            <a:avLst>
              <a:gd name="adj" fmla="val 32000"/>
            </a:avLst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52029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Year 4+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1143000"/>
            <a:ext cx="4919472" cy="5440680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1234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🔄  Same Problem, New Vertical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17190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Furniture &amp; Home Décor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61320" y="1719072"/>
            <a:ext cx="777240" cy="256032"/>
          </a:xfrm>
          <a:prstGeom prst="roundRect">
            <a:avLst>
              <a:gd name="adj" fmla="val 32000"/>
            </a:avLst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61320" y="172821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$600B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2029967"/>
            <a:ext cx="4434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Same Asian hubs, same buyers, FSC/REACH compliance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28620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Electronics &amp; Consumer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61320" y="2862072"/>
            <a:ext cx="777240" cy="256032"/>
          </a:xfrm>
          <a:prstGeom prst="roundRect">
            <a:avLst>
              <a:gd name="adj" fmla="val 32000"/>
            </a:avLst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61320" y="2871215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$3T+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3172968"/>
            <a:ext cx="4434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Complex TNA (EVT→DVT→mass), CE/RoHS, larger orders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40050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Agri-Commodities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61320" y="4005072"/>
            <a:ext cx="777240" cy="256032"/>
          </a:xfrm>
          <a:prstGeom prst="roundRect">
            <a:avLst>
              <a:gd name="adj" fmla="val 32000"/>
            </a:avLst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61320" y="4014215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$2T+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4315968"/>
            <a:ext cx="4434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Seasonal crops, food safety, FDA/EU food regs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51480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Pharmaceuticals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561320" y="5148072"/>
            <a:ext cx="777240" cy="256032"/>
          </a:xfrm>
          <a:prstGeom prst="roundRect">
            <a:avLst>
              <a:gd name="adj" fmla="val 32000"/>
            </a:avLst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61320" y="515721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$500B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5458968"/>
            <a:ext cx="4434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API sourcing, GMP compliance, strictest trust req.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626364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A9AB4"/>
                </a:solidFill>
                <a:latin typeface="Calibri"/>
              </a:rPr>
              <a:t>What changes per vertical: TNA templates + certification types + compliance frameworks — all configurable, not hardcoded.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08760"/>
          </a:xfrm>
          <a:prstGeom prst="rect">
            <a:avLst/>
          </a:prstGeom>
          <a:gradFill rotWithShape="1">
            <a:gsLst>
              <a:gs pos="0">
                <a:srgbClr val="2A0000"/>
              </a:gs>
              <a:gs pos="100000">
                <a:srgbClr val="0D0D2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Investment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645920" cy="25400"/>
          </a:xfrm>
          <a:prstGeom prst="rect">
            <a:avLst/>
          </a:prstGeom>
          <a:solidFill>
            <a:srgbClr val="C20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F0"/>
                </a:solidFill>
                <a:latin typeface="Calibri"/>
              </a:rPr>
              <a:t>"We are the operating system for B2B manufacturing sourcing. Every PO, milestone, and payment flows through us."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📊  Comparable Exits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65960"/>
            <a:ext cx="2651760" cy="1417320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4444"/>
                </a:solidFill>
                <a:latin typeface="Calibri"/>
              </a:rPr>
              <a:t>$12B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614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B2B marketplace + Net-60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965960"/>
            <a:ext cx="2651760" cy="1417320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0574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Flexport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77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4444"/>
                </a:solidFill>
                <a:latin typeface="Calibri"/>
              </a:rPr>
              <a:t>$8B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614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Logistics OS for global trade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965960"/>
            <a:ext cx="2651760" cy="1417320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0574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Drip Cap.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77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4444"/>
                </a:solidFill>
                <a:latin typeface="Calibri"/>
              </a:rPr>
              <a:t>$500M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614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Trade finance for SMBs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965960"/>
            <a:ext cx="2651760" cy="1417320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0574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Payoneer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377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4444"/>
                </a:solidFill>
                <a:latin typeface="Calibri"/>
              </a:rPr>
              <a:t>$3B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7614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AB4"/>
                </a:solidFill>
                <a:latin typeface="Calibri"/>
              </a:rPr>
              <a:t>Cross-border B2B 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⚡  Why 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9502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🔒  EU DPP compliance mandatory from 2027 — regulatory tailwind is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89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🌊  Post-COVID supply chain fragility — importers desperate for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2803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💻  Fintech rails (KYC, credit bureaus, payment APIs) now mature enough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66944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F0"/>
                </a:solidFill>
                <a:latin typeface="Calibri"/>
              </a:rPr>
              <a:t>📉  50,000 mid-market importers completely underserved by enterprise ERPs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1572768"/>
            <a:ext cx="3291840" cy="5166360"/>
          </a:xfrm>
          <a:prstGeom prst="roundRect">
            <a:avLst>
              <a:gd name="adj" fmla="val 15000"/>
            </a:avLst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96528" y="16642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🔄  The Flywheel</a:t>
            </a:r>
          </a:p>
        </p:txBody>
      </p:sp>
      <p:sp>
        <p:nvSpPr>
          <p:cNvPr id="30" name="Oval 29"/>
          <p:cNvSpPr/>
          <p:nvPr/>
        </p:nvSpPr>
        <p:spPr>
          <a:xfrm>
            <a:off x="8851392" y="2148840"/>
            <a:ext cx="128016" cy="128016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21031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  <a:latin typeface="Calibri"/>
              </a:rPr>
              <a:t>More factories join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245059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9AB4"/>
                </a:solidFill>
                <a:latin typeface="Calibri"/>
              </a:rPr>
              <a:t>↓</a:t>
            </a:r>
          </a:p>
        </p:txBody>
      </p:sp>
      <p:sp>
        <p:nvSpPr>
          <p:cNvPr id="33" name="Oval 32"/>
          <p:cNvSpPr/>
          <p:nvPr/>
        </p:nvSpPr>
        <p:spPr>
          <a:xfrm>
            <a:off x="8851392" y="271576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26700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Better matching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96528" y="301752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9AB4"/>
                </a:solidFill>
                <a:latin typeface="Calibri"/>
              </a:rPr>
              <a:t>↓</a:t>
            </a:r>
          </a:p>
        </p:txBody>
      </p:sp>
      <p:sp>
        <p:nvSpPr>
          <p:cNvPr id="36" name="Oval 35"/>
          <p:cNvSpPr/>
          <p:nvPr/>
        </p:nvSpPr>
        <p:spPr>
          <a:xfrm>
            <a:off x="8851392" y="3282696"/>
            <a:ext cx="128016" cy="12801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3236976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  <a:latin typeface="Calibri"/>
              </a:rPr>
              <a:t>More orders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528" y="358444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9AB4"/>
                </a:solidFill>
                <a:latin typeface="Calibri"/>
              </a:rPr>
              <a:t>↓</a:t>
            </a:r>
          </a:p>
        </p:txBody>
      </p:sp>
      <p:sp>
        <p:nvSpPr>
          <p:cNvPr id="39" name="Oval 38"/>
          <p:cNvSpPr/>
          <p:nvPr/>
        </p:nvSpPr>
        <p:spPr>
          <a:xfrm>
            <a:off x="8851392" y="3849623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3803904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More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96528" y="415137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9AB4"/>
                </a:solidFill>
                <a:latin typeface="Calibri"/>
              </a:rPr>
              <a:t>↓</a:t>
            </a:r>
          </a:p>
        </p:txBody>
      </p:sp>
      <p:sp>
        <p:nvSpPr>
          <p:cNvPr id="42" name="Oval 41"/>
          <p:cNvSpPr/>
          <p:nvPr/>
        </p:nvSpPr>
        <p:spPr>
          <a:xfrm>
            <a:off x="8851392" y="441655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4370831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Better underwriting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6528" y="471830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9AB4"/>
                </a:solidFill>
                <a:latin typeface="Calibri"/>
              </a:rPr>
              <a:t>↓</a:t>
            </a:r>
          </a:p>
        </p:txBody>
      </p:sp>
      <p:sp>
        <p:nvSpPr>
          <p:cNvPr id="45" name="Oval 44"/>
          <p:cNvSpPr/>
          <p:nvPr/>
        </p:nvSpPr>
        <p:spPr>
          <a:xfrm>
            <a:off x="8851392" y="498348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493776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Lower rates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96528" y="528523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9AB4"/>
                </a:solidFill>
                <a:latin typeface="Calibri"/>
              </a:rPr>
              <a:t>↓</a:t>
            </a:r>
          </a:p>
        </p:txBody>
      </p:sp>
      <p:sp>
        <p:nvSpPr>
          <p:cNvPr id="48" name="Oval 47"/>
          <p:cNvSpPr/>
          <p:nvPr/>
        </p:nvSpPr>
        <p:spPr>
          <a:xfrm>
            <a:off x="8851392" y="5550408"/>
            <a:ext cx="128016" cy="128016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8280" y="55046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444"/>
                </a:solidFill>
                <a:latin typeface="Calibri"/>
              </a:rPr>
              <a:t>More users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gradFill rotWithShape="1">
            <a:gsLst>
              <a:gs pos="0">
                <a:srgbClr val="200000"/>
              </a:gs>
              <a:gs pos="100000">
                <a:srgbClr val="0D0D2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624535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Textiles is our wedge. Global B2B trade finance is the prize. The moat builds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